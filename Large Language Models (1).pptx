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  <ns0:embeddedFont>
      <ns0:font typeface="Space Grotesk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a2671c54-242e-42cd-8ef7-be7ea178d94f.fntdata" /><ns0:Relationship Id="rIdFont13" Type="http://schemas.openxmlformats.org/officeDocument/2006/relationships/font" Target="fonts/23a2886c-5cf0-4f30-a45c-380ced0c5d3b.fntdata" /><ns0:Relationship Id="rIdFont14" Type="http://schemas.openxmlformats.org/officeDocument/2006/relationships/font" Target="fonts/fd39f302-d126-49ac-9adb-11d82cb94146.fntdata" /><ns0:Relationship Id="rIdFont15" Type="http://schemas.openxmlformats.org/officeDocument/2006/relationships/font" Target="fonts/143b43bb-9c04-4af8-b738-a327a156a67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5471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362700"/>
            <a:ext cx="109728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46504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Space Grotesk"/>
              </a:rPr>
              <a:t>NEXT-GENERATION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88890"/>
            <a:ext cx="10001250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92710"/>
            <a:ext cx="581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Architectures, scaling laws, and real-world enterprise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86525"/>
            <a:ext cx="1821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AI Engineering Masterclass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77575" y="6486525"/>
            <a:ext cx="7905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362700"/>
            <a:ext cx="109728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28925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828925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828925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62300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62300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6230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Core Architectural Pillars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86525"/>
            <a:ext cx="1821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AI Engineering Masterclass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8525" y="64865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571875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Transformer 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9338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Self-attention mechanism processing entire sequences in parallel.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571875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Scaling Laws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9338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Performance predictability driven by parameter count and compute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571875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Alignment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9338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RLHF and constitutional AI for safe, helpful model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362700"/>
            <a:ext cx="109728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95500" y="277653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95500" y="330993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95500" y="384333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95500" y="437673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95500" y="2776537"/>
            <a:ext cx="142279" cy="3429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95500" y="3309937"/>
            <a:ext cx="1660177" cy="3429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95500" y="3843337"/>
            <a:ext cx="3794670" cy="3429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95500" y="4376737"/>
            <a:ext cx="94869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BENCHMARK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Evolution of Parameter Scale (Billions)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486525"/>
            <a:ext cx="1821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AI Engineering Masterclass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58525" y="64865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3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85273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GPT-2 (2019)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38613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GPT-3 (2020)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91953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Llama 3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45293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GPT-4 (Est.)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2776537"/>
            <a:ext cx="12322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1.5B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309937"/>
            <a:ext cx="16411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175B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9800" y="3843337"/>
            <a:ext cx="377562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400B+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9800" y="4376737"/>
            <a:ext cx="94678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1.8T+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362700"/>
            <a:ext cx="109728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2420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9095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2146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8814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" y="3228975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895725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562" y="3319462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3986212"/>
            <a:ext cx="1905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Enterprise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486525"/>
            <a:ext cx="1821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AI Engineering Masterclass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486525"/>
            <a:ext cx="819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4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24200"/>
            <a:ext cx="53256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Automated Software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81375"/>
            <a:ext cx="5072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Real-time code generation, debugging, and test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90950"/>
            <a:ext cx="6200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Retrieval-Augmented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4812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Enterprise search over proprietary documents with zero hallucination.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14687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Intelligent Conversational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71862"/>
            <a:ext cx="533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Advanced customer support automation with multi-turn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81437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Unstructured Data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38612"/>
            <a:ext cx="533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Summarizing thousands of legal or financial records in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048125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362700"/>
            <a:ext cx="109728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5581" y="2781300"/>
            <a:ext cx="67008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375" y="3514725"/>
            <a:ext cx="6191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Shaping the future of trustworthy AI systems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434" y="6486525"/>
            <a:ext cx="1821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Inter"/>
              </a:rPr>
              <a:t>AI Engineering Masterclass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4865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Inter"/>
              </a:rPr>
              <a:t>Slide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